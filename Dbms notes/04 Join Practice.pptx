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B2E97-B25A-974F-0690-67A22898C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E2BBDB-C149-12F2-F34F-5740EC376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9448C-9CE6-A0D0-0058-891E52D17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6C3D-C3A6-47C1-A54D-BA8C1CD2A95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035A8-43F8-7D4F-7566-3CA0CE01C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9CD058-0B1F-98AB-344E-C844F9A57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FC58A-0171-49A0-BFB6-A46A6E565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030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D53B4-397C-C41C-A10C-5EB629911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F16E5-86F1-135A-598A-B9B6E0FC0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3FCF9F-D42D-DD58-50EC-C5A94D444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6C3D-C3A6-47C1-A54D-BA8C1CD2A95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D1074-4465-CF7E-EA6A-2A3E8422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4D0E2-6E84-6689-7BA8-55E9F8951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FC58A-0171-49A0-BFB6-A46A6E565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080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82788-4ECC-3696-2961-7468B9098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0BBB2-69AF-7BF3-2EAE-44102BE201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5BE64-9FDB-8438-92B9-AACBB6CD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6C3D-C3A6-47C1-A54D-BA8C1CD2A95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220A5-D74F-DEAC-27A8-8006105FE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E0F7A-409B-403B-B23F-2C0C805BC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FC58A-0171-49A0-BFB6-A46A6E565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025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8A8DF-6BDF-FB23-AC83-AE0AD8DAB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422F9-84BE-591D-0338-F099CE23D2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2DCB45-14E0-D0DD-8EBA-95590A4BB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798C02-2FA5-C67E-C7CD-8B2DC5BE9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6C3D-C3A6-47C1-A54D-BA8C1CD2A95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17448-A8E3-A281-4E14-6B34CC77A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04DB6-0A87-1C7F-8D47-75B829364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FC58A-0171-49A0-BFB6-A46A6E565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56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D0B19-66D0-BA05-559F-55A27704E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CBB17C-D2B3-0641-DD86-0F8173BC5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DA7FE-BBDD-9C98-A6B1-ABEAAE86A1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1A43C-CE8A-5017-F630-00715158E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69DE21-B61D-176C-A867-3CF462344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BF8573-52D5-C60C-F539-84F90DA47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6C3D-C3A6-47C1-A54D-BA8C1CD2A95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C11B49-9139-ED1A-E829-64E916FE2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377B5-7F95-D70A-3FF2-5D49C102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FC58A-0171-49A0-BFB6-A46A6E565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215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64A96-3D31-2982-938A-7B3A26D42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074B22-9758-B716-5D7C-C49AC27D0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6C3D-C3A6-47C1-A54D-BA8C1CD2A95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0DF2B8-066D-55C4-7550-ADF61DCBB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6BC254-5C9C-7380-167C-C6F0A71F5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FC58A-0171-49A0-BFB6-A46A6E565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853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EEB3B2-F1D9-B3A2-02D7-81E225F68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6C3D-C3A6-47C1-A54D-BA8C1CD2A95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F7AD52-5A79-F581-F308-264F7291E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2A7BA-AEC9-5C50-2355-2C220B018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FC58A-0171-49A0-BFB6-A46A6E565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827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DD7B7-6EA1-F7DC-40DE-58E22DD86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55BF8-1B1E-4770-F351-D242C94F3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150FC-2A4B-F640-9032-B11795E57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F0349-1FE7-3DE3-A48D-20C3B4D5F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6C3D-C3A6-47C1-A54D-BA8C1CD2A95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333E7-4D46-DED4-F1E4-510D19B4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83A88-EBE4-EFB0-BC55-75C5DC83C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FC58A-0171-49A0-BFB6-A46A6E565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789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AC05-ABA6-BFF1-482C-E4D0DD45A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B06DA4-462C-46C2-578D-E383247B1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65D5DB-7B16-4DD0-C2EF-7689719E2A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C55C79-5F50-B3D2-A5DE-98B13C410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6C3D-C3A6-47C1-A54D-BA8C1CD2A95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E4F8B-866D-843C-1668-D5E810C2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F72B2F-4A73-3E20-3FBE-46C0C6BEE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FC58A-0171-49A0-BFB6-A46A6E565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305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8EDF3-1C63-BE4B-252E-AF0B2D30E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B870F-7E6E-EB41-8440-FCA29A30FA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F81B6-F061-99D6-8559-99E69427E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6C3D-C3A6-47C1-A54D-BA8C1CD2A95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4599A-82DD-11BB-91ED-7BD2EF89A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31C24-1277-16A9-1843-FD3C0DD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FC58A-0171-49A0-BFB6-A46A6E565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537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9AF14E-527C-394E-3CEE-A3B38F86B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AD0AB2-28C5-F3B7-425B-AF2244D79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61C997-DED1-2854-7ED1-51D931563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6C3D-C3A6-47C1-A54D-BA8C1CD2A95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6D0CD-3876-1092-3587-949B58361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524B3-686A-2A12-2B96-C325E1865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FC58A-0171-49A0-BFB6-A46A6E565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421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8EBE04-40E5-9DDE-D1C5-F6273992E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30634E-9F48-99A6-F447-7F2F5BAD7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FE27D-BDD2-2185-6F6A-86B71DC00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C6C3D-C3A6-47C1-A54D-BA8C1CD2A95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698A0-7E1E-441D-7584-44997EC45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56CA0-D075-B1F7-0AC0-EB0BAA328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6FC58A-0171-49A0-BFB6-A46A6E56555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06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A8CA3F-E22C-F777-C078-B1F122DA86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9" r="1596"/>
          <a:stretch>
            <a:fillRect/>
          </a:stretch>
        </p:blipFill>
        <p:spPr bwMode="auto">
          <a:xfrm>
            <a:off x="592031" y="168064"/>
            <a:ext cx="5640070" cy="614934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294144-A14E-3F9A-405B-41B0D698F399}"/>
              </a:ext>
            </a:extLst>
          </p:cNvPr>
          <p:cNvSpPr txBox="1"/>
          <p:nvPr/>
        </p:nvSpPr>
        <p:spPr>
          <a:xfrm>
            <a:off x="5748867" y="0"/>
            <a:ext cx="572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SNUM IS NAME AS </a:t>
            </a:r>
            <a:r>
              <a:rPr lang="en-IN" dirty="0" err="1"/>
              <a:t>idSNUM</a:t>
            </a:r>
            <a:r>
              <a:rPr lang="en-IN" dirty="0"/>
              <a:t> IN MY TABLE.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070088-41D4-F22F-DC48-0C43D306787A}"/>
              </a:ext>
            </a:extLst>
          </p:cNvPr>
          <p:cNvSpPr txBox="1"/>
          <p:nvPr/>
        </p:nvSpPr>
        <p:spPr>
          <a:xfrm>
            <a:off x="5503969" y="290145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IN" dirty="0"/>
              <a:t>Salespeople Table</a:t>
            </a:r>
          </a:p>
          <a:p>
            <a:r>
              <a:rPr lang="en-IN" dirty="0"/>
              <a:t>CREATE TABLE Salespeople (    </a:t>
            </a:r>
          </a:p>
          <a:p>
            <a:r>
              <a:rPr lang="en-IN" dirty="0"/>
              <a:t>SNUM INT PRIMARY KEY,    </a:t>
            </a:r>
          </a:p>
          <a:p>
            <a:r>
              <a:rPr lang="en-IN" dirty="0"/>
              <a:t>SNAME VARCHAR(50),    </a:t>
            </a:r>
          </a:p>
          <a:p>
            <a:r>
              <a:rPr lang="en-IN" dirty="0"/>
              <a:t>CITY VARCHAR(50),    </a:t>
            </a:r>
          </a:p>
          <a:p>
            <a:r>
              <a:rPr lang="en-IN" dirty="0"/>
              <a:t>COMM DECIMAL(4,2));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IN" dirty="0"/>
              <a:t>Customers Table</a:t>
            </a:r>
          </a:p>
          <a:p>
            <a:r>
              <a:rPr lang="en-IN" dirty="0"/>
              <a:t>CREATE TABLE Customers (   </a:t>
            </a:r>
          </a:p>
          <a:p>
            <a:r>
              <a:rPr lang="en-IN" dirty="0"/>
              <a:t> CNUM INT PRIMARY KEY,</a:t>
            </a:r>
          </a:p>
          <a:p>
            <a:r>
              <a:rPr lang="en-IN" dirty="0"/>
              <a:t>    CNAME VARCHAR(50),   </a:t>
            </a:r>
          </a:p>
          <a:p>
            <a:r>
              <a:rPr lang="en-IN" dirty="0"/>
              <a:t> CITY VARCHAR(50),  </a:t>
            </a:r>
          </a:p>
          <a:p>
            <a:r>
              <a:rPr lang="en-IN" dirty="0"/>
              <a:t>  RATING INT,   </a:t>
            </a:r>
          </a:p>
          <a:p>
            <a:r>
              <a:rPr lang="en-IN" dirty="0"/>
              <a:t> SNUM INT,   </a:t>
            </a:r>
          </a:p>
          <a:p>
            <a:r>
              <a:rPr lang="en-IN" dirty="0"/>
              <a:t> FOREIGN KEY (SNUM) REFERENCES Salespeople(SNUM));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IN" dirty="0"/>
              <a:t>Orders Table</a:t>
            </a:r>
          </a:p>
          <a:p>
            <a:r>
              <a:rPr lang="en-IN" dirty="0"/>
              <a:t>CREATE TABLE </a:t>
            </a:r>
          </a:p>
          <a:p>
            <a:r>
              <a:rPr lang="en-IN" dirty="0"/>
              <a:t>Orders (ONUM INT PRIMARY KEY,    </a:t>
            </a:r>
          </a:p>
          <a:p>
            <a:r>
              <a:rPr lang="en-IN" dirty="0"/>
              <a:t>AMT DECIMAL(10,2),    </a:t>
            </a:r>
          </a:p>
          <a:p>
            <a:r>
              <a:rPr lang="en-IN" dirty="0"/>
              <a:t>ODATE DATE,    CNUM INT,  </a:t>
            </a:r>
          </a:p>
          <a:p>
            <a:r>
              <a:rPr lang="en-IN" dirty="0"/>
              <a:t>  SNUM INT,    </a:t>
            </a:r>
          </a:p>
          <a:p>
            <a:r>
              <a:rPr lang="en-IN" dirty="0"/>
              <a:t>FOREIGN KEY (CNUM) REFERENCES Customers(CNUM),    FOREIGN KEY (SNUM) REFERENCES Salespeople(SNUM));</a:t>
            </a:r>
          </a:p>
        </p:txBody>
      </p:sp>
    </p:spTree>
    <p:extLst>
      <p:ext uri="{BB962C8B-B14F-4D97-AF65-F5344CB8AC3E}">
        <p14:creationId xmlns:p14="http://schemas.microsoft.com/office/powerpoint/2010/main" val="2292761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9ECF2E-A254-0D7E-D4D8-617F29EB18CB}"/>
              </a:ext>
            </a:extLst>
          </p:cNvPr>
          <p:cNvSpPr txBox="1"/>
          <p:nvPr/>
        </p:nvSpPr>
        <p:spPr>
          <a:xfrm>
            <a:off x="220133" y="268373"/>
            <a:ext cx="11167533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--6. Find which salespeople currently have orders in the Orders table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D3D9DD-2368-7F34-F5DC-684D40F78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816" y="0"/>
            <a:ext cx="3752850" cy="2257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5FC051C-8FB0-F0F1-0E8D-EAC2E69629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19" r="1596"/>
          <a:stretch>
            <a:fillRect/>
          </a:stretch>
        </p:blipFill>
        <p:spPr bwMode="auto">
          <a:xfrm>
            <a:off x="0" y="802387"/>
            <a:ext cx="4818169" cy="52532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11ABBF-E125-6CC8-7F19-5FF5D52B0806}"/>
              </a:ext>
            </a:extLst>
          </p:cNvPr>
          <p:cNvSpPr txBox="1"/>
          <p:nvPr/>
        </p:nvSpPr>
        <p:spPr>
          <a:xfrm>
            <a:off x="4986868" y="3108954"/>
            <a:ext cx="7120466" cy="1173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DISTINCT     </a:t>
            </a:r>
            <a:r>
              <a:rPr lang="en-IN" sz="1800" kern="100" dirty="0" err="1">
                <a:solidFill>
                  <a:srgbClr val="EE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   </a:t>
            </a:r>
            <a:r>
              <a:rPr lang="en-IN" sz="1800" kern="100" dirty="0" err="1">
                <a:solidFill>
                  <a:srgbClr val="EE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SNAME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   </a:t>
            </a:r>
            <a:r>
              <a:rPr lang="en-IN" sz="1800" kern="100" dirty="0" err="1">
                <a:solidFill>
                  <a:srgbClr val="EE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CITY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   </a:t>
            </a:r>
            <a:r>
              <a:rPr lang="en-IN" sz="1800" kern="100" dirty="0" err="1">
                <a:solidFill>
                  <a:srgbClr val="EE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.COMM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>
                <a:solidFill>
                  <a:srgbClr val="EE0000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Salespeople</a:t>
            </a:r>
            <a:r>
              <a:rPr lang="en-IN" sz="1800" kern="100" dirty="0">
                <a:solidFill>
                  <a:srgbClr val="EE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en-IN" sz="1800" kern="100" dirty="0">
                <a:solidFill>
                  <a:srgbClr val="4472C4"/>
                </a:solidFill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Orders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rgbClr val="1F4E7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 err="1">
                <a:solidFill>
                  <a:srgbClr val="EE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=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 err="1">
                <a:solidFill>
                  <a:srgbClr val="1F4E7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533799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EB40B44-66DD-6E1D-CF88-46957496B79F}"/>
              </a:ext>
            </a:extLst>
          </p:cNvPr>
          <p:cNvSpPr txBox="1"/>
          <p:nvPr/>
        </p:nvSpPr>
        <p:spPr>
          <a:xfrm>
            <a:off x="287865" y="184201"/>
            <a:ext cx="10998201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-- 7. List names of all customers matched with the salespeople serving them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8AE726-0940-434D-56B0-DB956DEEE06C}"/>
              </a:ext>
            </a:extLst>
          </p:cNvPr>
          <p:cNvSpPr txBox="1"/>
          <p:nvPr/>
        </p:nvSpPr>
        <p:spPr>
          <a:xfrm>
            <a:off x="5715000" y="857250"/>
            <a:ext cx="6477000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IN" sz="1800" kern="100" dirty="0" err="1">
                <a:solidFill>
                  <a:srgbClr val="EE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Customers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.CNAME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kern="100" dirty="0" err="1">
                <a:solidFill>
                  <a:srgbClr val="5B9BD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Salespeople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.SNAME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</a:t>
            </a:r>
            <a:r>
              <a:rPr lang="en-IN" sz="1800" kern="100" dirty="0">
                <a:solidFill>
                  <a:srgbClr val="EE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Customers </a:t>
            </a:r>
            <a:r>
              <a:rPr lang="en-IN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>
                <a:solidFill>
                  <a:srgbClr val="5B9BD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Salespeople </a:t>
            </a:r>
            <a:r>
              <a:rPr lang="en-IN" sz="18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800" kern="100" dirty="0" err="1">
                <a:solidFill>
                  <a:srgbClr val="EE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Customers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solidFill>
                  <a:srgbClr val="4472C4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Salespeople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3EE92C-01C5-F417-FCE8-7326A52FB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9974" y="2034117"/>
            <a:ext cx="1924050" cy="2400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05ED99-6D13-746D-C01A-AD036CDC7E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19" r="1596"/>
          <a:stretch>
            <a:fillRect/>
          </a:stretch>
        </p:blipFill>
        <p:spPr bwMode="auto">
          <a:xfrm>
            <a:off x="541866" y="802387"/>
            <a:ext cx="4818169" cy="52532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512732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4F5309-405F-BABE-B951-D97A089CBAFE}"/>
              </a:ext>
            </a:extLst>
          </p:cNvPr>
          <p:cNvSpPr txBox="1"/>
          <p:nvPr/>
        </p:nvSpPr>
        <p:spPr>
          <a:xfrm>
            <a:off x="237067" y="128162"/>
            <a:ext cx="10922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-- 8. Find the names and numbers of all salespeople who had more than one customer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F41054-D4DA-E65E-F564-CA8EA243F097}"/>
              </a:ext>
            </a:extLst>
          </p:cNvPr>
          <p:cNvSpPr txBox="1"/>
          <p:nvPr/>
        </p:nvSpPr>
        <p:spPr>
          <a:xfrm>
            <a:off x="6316133" y="2042154"/>
            <a:ext cx="5748867" cy="1469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s.SNAME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FROM     Salespeople 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    Customers c ON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GROUP BY 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s.SNAME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HAVING     COUNT(DISTINCT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c.idCNUM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&gt; 1;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092B46-E2FA-EE8E-D849-CF9739D88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6045" y="4366153"/>
            <a:ext cx="1857375" cy="1190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D03500-13D0-49DC-97C1-75745CE35E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19" r="1596"/>
          <a:stretch>
            <a:fillRect/>
          </a:stretch>
        </p:blipFill>
        <p:spPr bwMode="auto">
          <a:xfrm>
            <a:off x="541866" y="802387"/>
            <a:ext cx="4818169" cy="52532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37613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C4B3E8-BA02-46C5-53C0-C6A7B5F26F55}"/>
              </a:ext>
            </a:extLst>
          </p:cNvPr>
          <p:cNvSpPr txBox="1"/>
          <p:nvPr/>
        </p:nvSpPr>
        <p:spPr>
          <a:xfrm>
            <a:off x="-1" y="153531"/>
            <a:ext cx="11590867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-- 9. Count the orders of each of the salespeople and output the results in descending order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53D3C9-EC84-80BF-C522-FA691E9414F0}"/>
              </a:ext>
            </a:extLst>
          </p:cNvPr>
          <p:cNvSpPr txBox="1"/>
          <p:nvPr/>
        </p:nvSpPr>
        <p:spPr>
          <a:xfrm>
            <a:off x="5888567" y="1601857"/>
            <a:ext cx="6121400" cy="206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s.SNAME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   COUNT(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o.idONUM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OrderCount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    Salespeople s JOIN     Orders o ON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o.idSNUM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s.SNAME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ORDER BY 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OrderCount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DESC;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7B18DC-50B7-3242-E250-C7EF10AEAF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9" r="1596"/>
          <a:stretch>
            <a:fillRect/>
          </a:stretch>
        </p:blipFill>
        <p:spPr bwMode="auto">
          <a:xfrm>
            <a:off x="541866" y="802387"/>
            <a:ext cx="4818169" cy="52532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01159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795CD2-9C38-C39F-C4FA-1ADC9439717A}"/>
              </a:ext>
            </a:extLst>
          </p:cNvPr>
          <p:cNvSpPr txBox="1"/>
          <p:nvPr/>
        </p:nvSpPr>
        <p:spPr>
          <a:xfrm>
            <a:off x="541866" y="238199"/>
            <a:ext cx="11142133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 the orders of each of the salespeople and output the results in descending order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383674-02BC-6281-DCDD-CEED41FA30AE}"/>
              </a:ext>
            </a:extLst>
          </p:cNvPr>
          <p:cNvSpPr txBox="1"/>
          <p:nvPr/>
        </p:nvSpPr>
        <p:spPr>
          <a:xfrm>
            <a:off x="6112932" y="1601857"/>
            <a:ext cx="6096000" cy="206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s.SNAME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   COUNT(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o.idONUM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OrderCount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    Salespeople s JOIN     Orders o ON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o.idSNUM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s.SNAME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ORDER BY 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OrderCount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DESC;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7DD675-71E6-E92D-6D8C-1C45EADDC0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9" r="1596"/>
          <a:stretch>
            <a:fillRect/>
          </a:stretch>
        </p:blipFill>
        <p:spPr bwMode="auto">
          <a:xfrm>
            <a:off x="541866" y="802387"/>
            <a:ext cx="4818169" cy="52532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51179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9B028B-A625-42E3-BAF8-AF8121113617}"/>
              </a:ext>
            </a:extLst>
          </p:cNvPr>
          <p:cNvSpPr txBox="1"/>
          <p:nvPr/>
        </p:nvSpPr>
        <p:spPr>
          <a:xfrm>
            <a:off x="330199" y="167954"/>
            <a:ext cx="10608733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-- 11. Match salespeople to customers according to the city they lived in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EB581E-F8D8-24C1-07DD-57C3867C6219}"/>
              </a:ext>
            </a:extLst>
          </p:cNvPr>
          <p:cNvSpPr txBox="1"/>
          <p:nvPr/>
        </p:nvSpPr>
        <p:spPr>
          <a:xfrm>
            <a:off x="6858000" y="938947"/>
            <a:ext cx="5334000" cy="316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s.sname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Salesperson_Name,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s.city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City,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Customer_Name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Salespeople 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Customers c ON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s.city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c.city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0E684C-BDB0-CB41-670A-D7CD27B671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9" r="1596"/>
          <a:stretch>
            <a:fillRect/>
          </a:stretch>
        </p:blipFill>
        <p:spPr bwMode="auto">
          <a:xfrm>
            <a:off x="541866" y="802387"/>
            <a:ext cx="4818169" cy="52532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3E3B0E3-38A3-6E68-29D4-A1A1916C8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1967" y="4502628"/>
            <a:ext cx="3343275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504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CFC48F-A88C-21F7-8969-7CC93E428B43}"/>
              </a:ext>
            </a:extLst>
          </p:cNvPr>
          <p:cNvSpPr txBox="1"/>
          <p:nvPr/>
        </p:nvSpPr>
        <p:spPr>
          <a:xfrm>
            <a:off x="347133" y="203865"/>
            <a:ext cx="110998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-- 15. List all the orders of salesperson Motika from the Orders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6AFAB3-3D0B-5F13-51CB-9CD57D3311C4}"/>
              </a:ext>
            </a:extLst>
          </p:cNvPr>
          <p:cNvSpPr txBox="1"/>
          <p:nvPr/>
        </p:nvSpPr>
        <p:spPr>
          <a:xfrm>
            <a:off x="7103533" y="1313525"/>
            <a:ext cx="4927600" cy="1572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o.*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Orders o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Salespeople s ON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s.idsnum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s.sname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'Motika';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DB0D9E-68CD-CFC7-73BA-A7E1CCF49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374" y="3972058"/>
            <a:ext cx="5086985" cy="733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18C30E-6BAA-3243-2DA9-3293E192033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19" r="1596"/>
          <a:stretch>
            <a:fillRect/>
          </a:stretch>
        </p:blipFill>
        <p:spPr bwMode="auto">
          <a:xfrm>
            <a:off x="541866" y="802387"/>
            <a:ext cx="4818169" cy="52532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849978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9D972A-1CFE-D342-A816-64F6C492103A}"/>
              </a:ext>
            </a:extLst>
          </p:cNvPr>
          <p:cNvSpPr txBox="1"/>
          <p:nvPr/>
        </p:nvSpPr>
        <p:spPr>
          <a:xfrm>
            <a:off x="668865" y="225046"/>
            <a:ext cx="11074401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-- 16. Find all customers with orders on October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9E1AB-6619-FF0F-77F5-9EC654BC31DB}"/>
              </a:ext>
            </a:extLst>
          </p:cNvPr>
          <p:cNvSpPr txBox="1"/>
          <p:nvPr/>
        </p:nvSpPr>
        <p:spPr>
          <a:xfrm>
            <a:off x="6375400" y="957925"/>
            <a:ext cx="5503333" cy="1572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DISTINCT c.*, </a:t>
            </a:r>
            <a:r>
              <a:rPr kumimoji="0" lang="en-I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o.odate</a:t>
            </a:r>
            <a:endParaRPr kumimoji="0" lang="en-IN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Customers c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Orders o ON </a:t>
            </a:r>
            <a:r>
              <a:rPr kumimoji="0" lang="en-I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c.idcnum</a:t>
            </a: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kumimoji="0" lang="en-I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o.idcnum</a:t>
            </a:r>
            <a:endParaRPr kumimoji="0" lang="en-IN" sz="1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kumimoji="0" lang="en-IN" sz="1800" b="0" i="0" u="none" strike="noStrike" kern="1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o.odate</a:t>
            </a:r>
            <a:r>
              <a:rPr kumimoji="0" lang="en-IN" sz="18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'1996/10/03';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39E5BEF-0280-75C4-3E4C-C4B081A671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66" y="3479800"/>
            <a:ext cx="4343400" cy="1076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C8A2DC-53E9-CA40-453C-C0F83C33BA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19" r="1596"/>
          <a:stretch>
            <a:fillRect/>
          </a:stretch>
        </p:blipFill>
        <p:spPr bwMode="auto">
          <a:xfrm>
            <a:off x="541866" y="802387"/>
            <a:ext cx="4818169" cy="52532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5D72671-4546-00CA-2F89-81BE3A702DA6}"/>
              </a:ext>
            </a:extLst>
          </p:cNvPr>
          <p:cNvSpPr txBox="1"/>
          <p:nvPr/>
        </p:nvSpPr>
        <p:spPr>
          <a:xfrm>
            <a:off x="6079066" y="5122807"/>
            <a:ext cx="6096000" cy="1572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DISTINCT c.*, </a:t>
            </a:r>
            <a:r>
              <a:rPr lang="en-IN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o.odate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Customers c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Orders o ON </a:t>
            </a:r>
            <a:r>
              <a:rPr lang="en-IN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c.idcnum</a:t>
            </a: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o.idcnum</a:t>
            </a:r>
            <a:endParaRPr lang="en-IN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  MONTH(</a:t>
            </a:r>
            <a:r>
              <a:rPr lang="en-IN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odate</a:t>
            </a: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='10' and   day(</a:t>
            </a:r>
            <a:r>
              <a:rPr lang="en-IN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odate</a:t>
            </a:r>
            <a:r>
              <a:rPr lang="en-IN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)='3';</a:t>
            </a:r>
          </a:p>
        </p:txBody>
      </p:sp>
    </p:spTree>
    <p:extLst>
      <p:ext uri="{BB962C8B-B14F-4D97-AF65-F5344CB8AC3E}">
        <p14:creationId xmlns:p14="http://schemas.microsoft.com/office/powerpoint/2010/main" val="602440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8EF278-4FF5-BB6B-303A-7AF8D70BB42A}"/>
              </a:ext>
            </a:extLst>
          </p:cNvPr>
          <p:cNvSpPr txBox="1"/>
          <p:nvPr/>
        </p:nvSpPr>
        <p:spPr>
          <a:xfrm>
            <a:off x="5791200" y="777554"/>
            <a:ext cx="6096000" cy="3464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c1.cname AS Customer1,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c2.cname AS Customer2,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c1.rating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Customers c1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Customers c2 ON c1.rating = c2.rating AND c1.idcnum &lt; c2.idcnum;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24D422-9AC4-23AF-0863-5CB5872B5ABB}"/>
              </a:ext>
            </a:extLst>
          </p:cNvPr>
          <p:cNvSpPr txBox="1"/>
          <p:nvPr/>
        </p:nvSpPr>
        <p:spPr>
          <a:xfrm>
            <a:off x="626534" y="133958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-- 20. Find all pairs of customers having the same rating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447F39B-D70B-0B85-82C0-54D3373E1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742" y="5151265"/>
            <a:ext cx="2609850" cy="15716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A98250-9B56-A465-1816-1B217C0230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19" r="1596"/>
          <a:stretch>
            <a:fillRect/>
          </a:stretch>
        </p:blipFill>
        <p:spPr bwMode="auto">
          <a:xfrm>
            <a:off x="541866" y="802387"/>
            <a:ext cx="4818169" cy="52532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849086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B3BE5A7-3292-F6A2-1C9F-23BA616A51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419" r="1596"/>
          <a:stretch>
            <a:fillRect/>
          </a:stretch>
        </p:blipFill>
        <p:spPr bwMode="auto">
          <a:xfrm>
            <a:off x="541866" y="802387"/>
            <a:ext cx="4818169" cy="52532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8231E8-1582-17BE-114A-EDD6090ABA79}"/>
              </a:ext>
            </a:extLst>
          </p:cNvPr>
          <p:cNvSpPr txBox="1"/>
          <p:nvPr/>
        </p:nvSpPr>
        <p:spPr>
          <a:xfrm>
            <a:off x="956733" y="260958"/>
            <a:ext cx="6096000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-- 24. List the largest orders for October 3, for each salesperson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5B6FE-0779-9993-3CAC-961799E873A8}"/>
              </a:ext>
            </a:extLst>
          </p:cNvPr>
          <p:cNvSpPr txBox="1"/>
          <p:nvPr/>
        </p:nvSpPr>
        <p:spPr>
          <a:xfrm>
            <a:off x="6595533" y="1597799"/>
            <a:ext cx="5596467" cy="4661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o.*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Orders o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(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SELECT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MAX(amt) AS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max_amt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FROM Orders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WHERE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odate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'1996/10/03'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GROUP BY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idsnum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AS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max_orders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max_orders.idsnum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o.amt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max_orders.max_amt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o.odate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='1996/10/03';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5906E1-79D6-EF20-1A32-00AE6751C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835" y="92639"/>
            <a:ext cx="4944165" cy="150516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77B114-07B7-504B-08BE-B773F64B5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3951" y="5120461"/>
            <a:ext cx="2381582" cy="1476581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BBCFD82-286B-122D-0BA1-E58BE88E8F5D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5404742" y="4614333"/>
            <a:ext cx="1724191" cy="506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FAD9A57-F97E-E029-C427-613B7E6516F8}"/>
              </a:ext>
            </a:extLst>
          </p:cNvPr>
          <p:cNvSpPr txBox="1"/>
          <p:nvPr/>
        </p:nvSpPr>
        <p:spPr>
          <a:xfrm>
            <a:off x="4446503" y="4498065"/>
            <a:ext cx="1820334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max_orders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7039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0256AE-FB90-91CC-76EF-4091AE94FC37}"/>
              </a:ext>
            </a:extLst>
          </p:cNvPr>
          <p:cNvSpPr txBox="1"/>
          <p:nvPr/>
        </p:nvSpPr>
        <p:spPr>
          <a:xfrm>
            <a:off x="618065" y="166169"/>
            <a:ext cx="10041467" cy="543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-- 28. Write a query that produces all customers serviced by salespeople with a commission above 12%. Output the customer's name and the salesperson's rate of commission.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BE01C-7E6E-9E70-9790-AA5409590D3E}"/>
              </a:ext>
            </a:extLst>
          </p:cNvPr>
          <p:cNvSpPr txBox="1"/>
          <p:nvPr/>
        </p:nvSpPr>
        <p:spPr>
          <a:xfrm>
            <a:off x="7323666" y="951137"/>
            <a:ext cx="4868334" cy="3567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c.cname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Customer_Name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s.comm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AS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Commission_Rate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Customers c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JOIN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Salespeople s ON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c.idsnum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=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s.idsnum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WHERE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s.comm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&gt; 0.12;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3D3BBC-284B-8F67-AD90-BA243DDB6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5954" y="4961466"/>
            <a:ext cx="3576955" cy="13652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54F600F-8821-F723-F6F6-48F6E9895A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419" r="1596"/>
          <a:stretch>
            <a:fillRect/>
          </a:stretch>
        </p:blipFill>
        <p:spPr bwMode="auto">
          <a:xfrm>
            <a:off x="541866" y="802387"/>
            <a:ext cx="4818169" cy="52532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03830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769</Words>
  <Application>Microsoft Office PowerPoint</Application>
  <PresentationFormat>Widescreen</PresentationFormat>
  <Paragraphs>97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32</cp:revision>
  <dcterms:created xsi:type="dcterms:W3CDTF">2025-09-11T03:34:36Z</dcterms:created>
  <dcterms:modified xsi:type="dcterms:W3CDTF">2025-09-20T13:39:29Z</dcterms:modified>
</cp:coreProperties>
</file>